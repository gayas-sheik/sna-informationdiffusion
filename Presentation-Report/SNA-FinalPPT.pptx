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23"/>
    <p:sldId id="274" r:id="rId24"/>
    <p:sldId id="260" r:id="rId6"/>
    <p:sldId id="261" r:id="rId7"/>
    <p:sldId id="262" r:id="rId8"/>
    <p:sldId id="263" r:id="rId9"/>
    <p:sldId id="277" r:id="rId27"/>
    <p:sldId id="264" r:id="rId10"/>
    <p:sldId id="275" r:id="rId25"/>
    <p:sldId id="265" r:id="rId11"/>
    <p:sldId id="266" r:id="rId12"/>
    <p:sldId id="276" r:id="rId26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40814" y="0"/>
            <a:ext cx="2648137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32853" y="0"/>
            <a:ext cx="165609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45720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rPr sz="1400" dirty="0"/>
              <a:t>SOCIAL NETWORK ANALYSIS •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96926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Information Diffusion</a:t>
            </a:r>
            <a:br/>
            <a:r>
              <a:t>in Social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SNA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778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E2E8F0"/>
                </a:solidFill>
                <a:latin typeface="Aptos"/>
              </a:defRPr>
            </a:pPr>
            <a:r>
              <a:t>How does information spread, and what determines how far, how fast, and through whom it spreads?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Aptos"/>
              </a:defRPr>
            </a:pPr>
            <a:r>
              <a:t>FINAL PRESENTATION /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383D86-2C0F-3E91-1A47-6A6F91D0EBB0}"/>
              </a:ext>
            </a:extLst>
          </p:cNvPr>
          <p:cNvSpPr txBox="1"/>
          <p:nvPr/>
        </p:nvSpPr>
        <p:spPr>
          <a:xfrm>
            <a:off x="822960" y="4572001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Vijay Krishna	CB.SC.U4CSE23112</a:t>
            </a:r>
          </a:p>
          <a:p>
            <a:r>
              <a:rPr lang="en-US" dirty="0">
                <a:solidFill>
                  <a:schemeClr val="bg1"/>
                </a:solidFill>
              </a:rPr>
              <a:t>Gayas Sheik	CB.SC.U4CSE23118</a:t>
            </a:r>
          </a:p>
          <a:p>
            <a:r>
              <a:rPr lang="en-US" dirty="0">
                <a:solidFill>
                  <a:schemeClr val="bg1"/>
                </a:solidFill>
              </a:rPr>
              <a:t>Manish S		CB.SC.U4CSE23125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1. Problem &amp;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434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2953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953512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Aptos"/>
              </a:defRPr>
            </a:pPr>
            <a:r>
              <a:t>Analyze how information spreads through social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37560" cy="4434840"/>
          </a:xfrm>
          <a:prstGeom prst="roundRect">
            <a:avLst/>
          </a:prstGeom>
          <a:solidFill>
            <a:srgbClr val="ECFE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325880"/>
            <a:ext cx="64008" cy="4434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490472"/>
            <a:ext cx="2953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929384"/>
            <a:ext cx="2953512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Focus on user influence, network structure, communities, platforms, and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25880"/>
            <a:ext cx="3657600" cy="44348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325880"/>
            <a:ext cx="64008" cy="4434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9288" y="1490472"/>
            <a:ext cx="3273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1929384"/>
            <a:ext cx="3273552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Research question: How does information spread, and what factors determine how far, how fast, and through whom it spreads?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2. Dataset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interactions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6400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92808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344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5864" y="123444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892808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information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487168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487168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651760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145536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communities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487168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2487168"/>
            <a:ext cx="6400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2651760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45536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platforms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2487168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5864" y="2487168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2" y="2651760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1,876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145536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information cascades identified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794760"/>
            <a:ext cx="5230368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379476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39593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Network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398264"/>
            <a:ext cx="484632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Directed interaction network + propagation network.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794760"/>
            <a:ext cx="5230368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379476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64807" y="39593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Analysis methods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398264"/>
            <a:ext cx="484632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0">
                <a:solidFill>
                  <a:srgbClr val="475569"/>
                </a:solidFill>
                <a:latin typeface="Aptos"/>
              </a:defRPr>
            </a:pPr>
            <a:r>
              <a:t>Centrality: degree, PageRank, betweenness, closeness, eigenvector.</a:t>
            </a:r>
            <a:br/>
            <a:r>
              <a:t>Cascade, cross-platform, cross-community, and temporal analysis.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3. Network Structure &amp; Influence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48,463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632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unique interaction edges; density ≈ 0.000485.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64008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9,421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92808"/>
            <a:ext cx="30632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largest weakly connected component.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344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5864" y="123444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0.805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892808"/>
            <a:ext cx="30632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mean influence • Influential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88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7889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95351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r = 0.7014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47287"/>
            <a:ext cx="30632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Influence ↔ PageRank.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788920"/>
            <a:ext cx="7114032" cy="256032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2788920"/>
            <a:ext cx="64008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2953512"/>
            <a:ext cx="6729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92424"/>
            <a:ext cx="6729984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Aptos"/>
              </a:defRPr>
            </a:pPr>
            <a:r>
              <a:t>structurally important users tend to have higher influence in the synthetic network.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4. Monthly Interaction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08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Activity rises overall from 6,570 interactions in January to 9,463 in June, with a small dip in April.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5. Interaction Types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3702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Likes remain the largest interaction category, while shares and cross-platform shares also increase over the observation period.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6. Information Cascade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08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There are 1,876 cascades; mean size is 26.65, median 28, and maximum 75.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7. Information Cascade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08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Cascade durations show substantial variation, including a long tail toward several hundred hours.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8. Cross-Platform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53" y="769469"/>
            <a:ext cx="7040245" cy="56514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92.16% of cascades involve cross-platform propagation. All 20 directed platform pairs occur.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9. Top Cross-Platform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08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Facebook → YouTube is the largest observed transition with 421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10. Cross-Community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6" y="882800"/>
            <a:ext cx="7324689" cy="5655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97.12% of cascades involve multiple communities, indicating widespread community-to-community movement in the simulation.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11. Propagation vs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rPr sz="1500">
                <a:solidFill>
                  <a:srgbClr val="505E73"/>
                </a:solidFill>
                <a:latin typeface="Aptos"/>
              </a:rPr>
              <a:t>Propagation-oriented activity remains below total engagement. Propagation peaks in May at 4,033 interactions before a small June decline.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  <p:pic>
        <p:nvPicPr>
          <p:cNvPr id="12" name="Picture 11" descr="networkx_propagation_vs_eng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8092440" cy="43702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12. Monthly Propagation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127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The monthly rate is relatively stable: average 41.83%, maximum 43.49% in May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13. Temporal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Peak simulated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48737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23:00 with 2,568 interactions.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1600200"/>
          </a:xfrm>
          <a:prstGeom prst="roundRect">
            <a:avLst/>
          </a:prstGeom>
          <a:solidFill>
            <a:srgbClr val="ECFE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64008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49047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Peak simulated weekday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29384"/>
            <a:ext cx="48737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Tuesday with 8,564 interactions.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10789920" cy="21488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64008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410712"/>
            <a:ext cx="10405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849624"/>
            <a:ext cx="10405872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These are properties of the controlled synthetic dataset.</a:t>
            </a:r>
            <a:br/>
            <a:r>
              <a:t>They should not be presented as real-world behavioral or causal findings.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14. Discussion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Network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487375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Network position is associated with user influence.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554480"/>
          </a:xfrm>
          <a:prstGeom prst="roundRect">
            <a:avLst/>
          </a:prstGeom>
          <a:solidFill>
            <a:srgbClr val="ECFE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64008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39903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Diffusion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37944"/>
            <a:ext cx="487375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Information frequently crosses platform and community boundaries.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2578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42900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59359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Temporal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032504"/>
            <a:ext cx="487375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Temporal variation provides another dimension for understanding diffusion.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257800" cy="173736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64008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59359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Potential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32504"/>
            <a:ext cx="487375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0">
                <a:solidFill>
                  <a:srgbClr val="475569"/>
                </a:solidFill>
                <a:latin typeface="Aptos"/>
              </a:defRPr>
            </a:pPr>
            <a:r>
              <a:t>Potential applications: influencer identification, propagation monitoring, and community-to-community 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15.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5780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44751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4873752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0">
                <a:solidFill>
                  <a:srgbClr val="475569"/>
                </a:solidFill>
                <a:latin typeface="Aptos"/>
              </a:defRPr>
            </a:pPr>
            <a:r>
              <a:t>Synthetic dataset → findings are simulation-based.</a:t>
            </a:r>
            <a:br/>
            <a:br/>
            <a:r>
              <a:t>Cascades are predominantly chain-like → branching topology is limited.</a:t>
            </a:r>
            <a:br/>
            <a:br/>
            <a:r>
              <a:t>Platform/community distributions are controlled.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5780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64008" cy="4297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444751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83664"/>
            <a:ext cx="4873752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Future: real-world validation, branching cascades, diffusion models, and time-to-event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16.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6B6D4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78992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10405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Information diffusion is multi-dimensional.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86584"/>
            <a:ext cx="1040587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Network structure, user position, cross-platform movement, cross-community movement, and time all shape the observed simulation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107899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977639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4142231"/>
            <a:ext cx="10405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Study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581144"/>
            <a:ext cx="10405872" cy="5693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0">
                <a:solidFill>
                  <a:srgbClr val="475569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study demonstrates an end-to-end SNA workflow from network construction to integrated diffusion findings.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Conclusions are explicitly limited to the synthetic setting.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D6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32004"/>
          </a:xfrm>
          <a:prstGeom prst="rect">
            <a:avLst/>
          </a:prstGeom>
          <a:solidFill>
            <a:srgbClr val="12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82F"/>
                </a:solidFill>
                <a:latin typeface="Aptos"/>
              </a:rPr>
              <a:t>3A. PageRank-Based Influential User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926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05E73"/>
                </a:solidFill>
                <a:latin typeface="Aptos"/>
              </a:rPr>
              <a:t>04A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1111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E73"/>
                </a:solidFill>
                <a:latin typeface="Aptos"/>
              </a:rPr>
              <a:t>SNA CASE STUDY • INFORMATION DIFFUSION</a:t>
            </a:r>
          </a:p>
        </p:txBody>
      </p:sp>
      <p:pic>
        <p:nvPicPr>
          <p:cNvPr id="8" name="Picture 7" descr="networkx_influential_use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87552"/>
            <a:ext cx="7635240" cy="5440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34440"/>
            <a:ext cx="34290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234440"/>
            <a:ext cx="64008" cy="2148840"/>
          </a:xfrm>
          <a:prstGeom prst="rect">
            <a:avLst/>
          </a:prstGeom>
          <a:solidFill>
            <a:srgbClr val="2D6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05E73"/>
                </a:solidFill>
                <a:latin typeface="Aptos"/>
              </a:rPr>
              <a:t>The 100 users with the highest PageRank are shown as a directed interaction subnetwork. Node size represents PageRank; color represents user type.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547872"/>
            <a:ext cx="34290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3547872"/>
            <a:ext cx="64008" cy="2148840"/>
          </a:xfrm>
          <a:prstGeom prst="rect">
            <a:avLst/>
          </a:prstGeom>
          <a:solidFill>
            <a:srgbClr val="1E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712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KEY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42232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05E73"/>
                </a:solidFill>
                <a:latin typeface="Aptos"/>
              </a:rPr>
              <a:t>Influential users are structurally prominent in the network. This visualization complements the correlation result of r = 0.7014 between influence score and PageRank.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D6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32004"/>
          </a:xfrm>
          <a:prstGeom prst="rect">
            <a:avLst/>
          </a:prstGeom>
          <a:solidFill>
            <a:srgbClr val="12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82F"/>
                </a:solidFill>
                <a:latin typeface="Aptos"/>
              </a:rPr>
              <a:t>3B. User Influence vs PageRank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926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05E73"/>
                </a:solidFill>
                <a:latin typeface="Aptos"/>
              </a:rPr>
              <a:t>04B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1111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E73"/>
                </a:solidFill>
                <a:latin typeface="Aptos"/>
              </a:rPr>
              <a:t>SNA CASE STUDY • INFORMATION DIFFUSION</a:t>
            </a:r>
          </a:p>
        </p:txBody>
      </p:sp>
      <p:pic>
        <p:nvPicPr>
          <p:cNvPr id="8" name="Picture 7" descr="networkx_influence_vs_page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87552"/>
            <a:ext cx="7635240" cy="5440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34440"/>
            <a:ext cx="34290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234440"/>
            <a:ext cx="64008" cy="2148840"/>
          </a:xfrm>
          <a:prstGeom prst="rect">
            <a:avLst/>
          </a:prstGeom>
          <a:solidFill>
            <a:srgbClr val="12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HOW TO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505E73"/>
                </a:solidFill>
                <a:latin typeface="Aptos"/>
              </a:rPr>
              <a:t>Each point is a user. The x-axis is PageRank and the y-axis is influence score. Colors distinguish user types; the dashed line shows the linear trend.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547872"/>
            <a:ext cx="34290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3547872"/>
            <a:ext cx="64008" cy="2148840"/>
          </a:xfrm>
          <a:prstGeom prst="rect">
            <a:avLst/>
          </a:prstGeom>
          <a:solidFill>
            <a:srgbClr val="1E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712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KEY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42232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505E73"/>
                </a:solidFill>
                <a:latin typeface="Aptos"/>
              </a:rPr>
              <a:t>Pearson r = 0.7014 indicates a strong positive association in this synthetic network: users with higher PageRank generally tend to have higher influence scores.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D6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32004"/>
          </a:xfrm>
          <a:prstGeom prst="rect">
            <a:avLst/>
          </a:prstGeom>
          <a:solidFill>
            <a:srgbClr val="12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82F"/>
                </a:solidFill>
                <a:latin typeface="Aptos"/>
              </a:rPr>
              <a:t>8A. Cross-Platform Information Diffusion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926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05E73"/>
                </a:solidFill>
                <a:latin typeface="Aptos"/>
              </a:rPr>
              <a:t>09A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1111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E73"/>
                </a:solidFill>
                <a:latin typeface="Aptos"/>
              </a:rPr>
              <a:t>SNA CASE STUDY • INFORMATION DIFFUSION</a:t>
            </a:r>
          </a:p>
        </p:txBody>
      </p:sp>
      <p:pic>
        <p:nvPicPr>
          <p:cNvPr id="8" name="Picture 7" descr="networkx_cross_platform_diffusion_network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87552"/>
            <a:ext cx="7452360" cy="5440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34440"/>
            <a:ext cx="34290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234440"/>
            <a:ext cx="64008" cy="2148840"/>
          </a:xfrm>
          <a:prstGeom prst="rect">
            <a:avLst/>
          </a:prstGeom>
          <a:solidFill>
            <a:srgbClr val="2D6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505E73"/>
                </a:solidFill>
                <a:latin typeface="Aptos"/>
              </a:rPr>
              <a:t>Five platform nodes are connected by directed edges representing cross-platform diffusion pathways. Edge labels show observed transition 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547872"/>
            <a:ext cx="34290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3547872"/>
            <a:ext cx="64008" cy="2148840"/>
          </a:xfrm>
          <a:prstGeom prst="rect">
            <a:avLst/>
          </a:prstGeom>
          <a:solidFill>
            <a:srgbClr val="1E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712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KEY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42232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505E73"/>
                </a:solidFill>
                <a:latin typeface="Aptos"/>
              </a:rPr>
              <a:t>All 20 directed platform pairs occur. The network shows that information movement is not confined to a single platform; Facebook → YouTube is the largest observed pathway with 421 events.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D6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32004"/>
          </a:xfrm>
          <a:prstGeom prst="rect">
            <a:avLst/>
          </a:prstGeom>
          <a:solidFill>
            <a:srgbClr val="12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82F"/>
                </a:solidFill>
                <a:latin typeface="Aptos"/>
              </a:rPr>
              <a:t>10A. Community-Level Information Diffusion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926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05E73"/>
                </a:solidFill>
                <a:latin typeface="Aptos"/>
              </a:rPr>
              <a:t>11A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1111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E73"/>
                </a:solidFill>
                <a:latin typeface="Aptos"/>
              </a:rPr>
              <a:t>SNA CASE STUDY • INFORMATION DIFFUSION</a:t>
            </a:r>
          </a:p>
        </p:txBody>
      </p:sp>
      <p:pic>
        <p:nvPicPr>
          <p:cNvPr id="8" name="Picture 7" descr="networkx_community_diffusi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87552"/>
            <a:ext cx="7635240" cy="5440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34440"/>
            <a:ext cx="34290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234440"/>
            <a:ext cx="64008" cy="2148840"/>
          </a:xfrm>
          <a:prstGeom prst="rect">
            <a:avLst/>
          </a:prstGeom>
          <a:solidFill>
            <a:srgbClr val="12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505E73"/>
                </a:solidFill>
                <a:latin typeface="Aptos"/>
              </a:rPr>
              <a:t>The 25 communities are represented as nodes. The strongest 100 cross-community connections are drawn as directed edges.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547872"/>
            <a:ext cx="34290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3547872"/>
            <a:ext cx="64008" cy="2148840"/>
          </a:xfrm>
          <a:prstGeom prst="rect">
            <a:avLst/>
          </a:prstGeom>
          <a:solidFill>
            <a:srgbClr val="1E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712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KEY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42232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505E73"/>
                </a:solidFill>
                <a:latin typeface="Aptos"/>
              </a:rPr>
              <a:t>97.12% of cascades involve multiple communities. The dense cross-community structure supports the conclusion that diffusion frequently crosses community boundaries in the simulation.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D6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32004"/>
          </a:xfrm>
          <a:prstGeom prst="rect">
            <a:avLst/>
          </a:prstGeom>
          <a:solidFill>
            <a:srgbClr val="12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82F"/>
                </a:solidFill>
                <a:latin typeface="Aptos"/>
              </a:rPr>
              <a:t>7A. Information Cascade Propagation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926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05E73"/>
                </a:solidFill>
                <a:latin typeface="Aptos"/>
              </a:rPr>
              <a:t>08A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1111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E73"/>
                </a:solidFill>
                <a:latin typeface="Aptos"/>
              </a:rPr>
              <a:t>SNA CASE STUDY • INFORMATION DIFFUSION</a:t>
            </a:r>
          </a:p>
        </p:txBody>
      </p:sp>
      <p:pic>
        <p:nvPicPr>
          <p:cNvPr id="8" name="Picture 7" descr="networkx_information_cascade_propa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7726679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34440"/>
            <a:ext cx="34290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234440"/>
            <a:ext cx="64008" cy="1874519"/>
          </a:xfrm>
          <a:prstGeom prst="rect">
            <a:avLst/>
          </a:prstGeom>
          <a:solidFill>
            <a:srgbClr val="2D6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E73"/>
                </a:solidFill>
                <a:latin typeface="Aptos"/>
              </a:rPr>
              <a:t>The largest observed cascade, CASCADE_INFO0605_01, contains 76 users connected by 75 directed propagation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273552"/>
            <a:ext cx="3429000" cy="2240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3273552"/>
            <a:ext cx="64008" cy="2240280"/>
          </a:xfrm>
          <a:prstGeom prst="rect">
            <a:avLst/>
          </a:prstGeom>
          <a:solidFill>
            <a:srgbClr val="1E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438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82F"/>
                </a:solidFill>
                <a:latin typeface="Aptos"/>
              </a:rPr>
              <a:t>KEY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867912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E73"/>
                </a:solidFill>
                <a:latin typeface="Aptos"/>
              </a:rPr>
              <a:t>The cascade reaches 5 platforms and 17 communities. Its chain-like structure also illustrates the study limitation that branching diffusion is limited in the synthetic generator.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753</Words>
  <Application>Microsoft Office PowerPoint</Application>
  <PresentationFormat>Widescreen</PresentationFormat>
  <Paragraphs>128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Lt. 07</cp:lastModifiedBy>
  <cp:revision>3</cp:revision>
  <dcterms:created xsi:type="dcterms:W3CDTF">2013-01-27T09:14:16Z</dcterms:created>
  <dcterms:modified xsi:type="dcterms:W3CDTF">2026-10-04T15:02:42Z</dcterms:modified>
  <cp:category/>
</cp:coreProperties>
</file>