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40814" y="0"/>
            <a:ext cx="2648137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32853" y="0"/>
            <a:ext cx="165609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45720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Aptos"/>
              </a:defRPr>
            </a:pPr>
            <a:r>
              <a:rPr sz="1400" dirty="0"/>
              <a:t>SOCIAL NETWORK ANALYSIS •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96926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Information Diffusion</a:t>
            </a:r>
            <a:br/>
            <a:r>
              <a:t>in Social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SNA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778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E2E8F0"/>
                </a:solidFill>
                <a:latin typeface="Aptos"/>
              </a:defRPr>
            </a:pPr>
            <a:r>
              <a:t>How does information spread, and what determines how far, how fast, and through whom it spreads?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Aptos"/>
              </a:defRPr>
            </a:pPr>
            <a:r>
              <a:t>FINAL PRESENTATION /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383D86-2C0F-3E91-1A47-6A6F91D0EBB0}"/>
              </a:ext>
            </a:extLst>
          </p:cNvPr>
          <p:cNvSpPr txBox="1"/>
          <p:nvPr/>
        </p:nvSpPr>
        <p:spPr>
          <a:xfrm>
            <a:off x="822960" y="4572001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Vijay Krishna	CB.SC.U4CSE23112</a:t>
            </a:r>
          </a:p>
          <a:p>
            <a:r>
              <a:rPr lang="en-US" dirty="0">
                <a:solidFill>
                  <a:schemeClr val="bg1"/>
                </a:solidFill>
              </a:rPr>
              <a:t>Gayas Sheik	CB.SC.U4CSE23118</a:t>
            </a:r>
          </a:p>
          <a:p>
            <a:r>
              <a:rPr lang="en-US" dirty="0">
                <a:solidFill>
                  <a:schemeClr val="bg1"/>
                </a:solidFill>
              </a:rPr>
              <a:t>Manish S		CB.SC.U4CSE23125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1. Problem &amp;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44348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2953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953512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Aptos"/>
              </a:defRPr>
            </a:pPr>
            <a:r>
              <a:t>Analyze how information spreads through social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37560" cy="4434840"/>
          </a:xfrm>
          <a:prstGeom prst="roundRect">
            <a:avLst/>
          </a:prstGeom>
          <a:solidFill>
            <a:srgbClr val="ECFE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325880"/>
            <a:ext cx="64008" cy="4434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490472"/>
            <a:ext cx="2953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929384"/>
            <a:ext cx="2953512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Focus on user influence, network structure, communities, platforms, and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25880"/>
            <a:ext cx="3657600" cy="44348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325880"/>
            <a:ext cx="64008" cy="4434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9288" y="1490472"/>
            <a:ext cx="3273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1929384"/>
            <a:ext cx="3273552" cy="36850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Research question: How does information spread, and what factors determine how far, how fast, and through whom it spreads?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2. Dataset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50,000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6400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10,000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8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34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23444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892808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information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87168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487168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651760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145536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communities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487168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2487168"/>
            <a:ext cx="6400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651760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45536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platforms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2487168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5864" y="2487168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7032" y="2651760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1,876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145536"/>
            <a:ext cx="3063240" cy="246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information cascades identified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794760"/>
            <a:ext cx="5230368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379476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39593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Network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398264"/>
            <a:ext cx="484632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Directed interaction network + propagation network.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94760"/>
            <a:ext cx="5230368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379476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39593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Analysis methods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4398264"/>
            <a:ext cx="484632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0">
                <a:solidFill>
                  <a:srgbClr val="475569"/>
                </a:solidFill>
                <a:latin typeface="Aptos"/>
              </a:defRPr>
            </a:pPr>
            <a:r>
              <a:t>Centrality: degree, PageRank, betweenness, closeness, eigenvector.</a:t>
            </a:r>
            <a:br/>
            <a:r>
              <a:t>Cascade, cross-platform, cross-community, and temporal analysis.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3. Network Structure &amp; Influence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48,463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unique interaction edges; density ≈ 0.000485.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64008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9,421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8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largest weakly connected component.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2344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23444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39903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0.805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1892808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mean influence • Influential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78892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953512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  <a:latin typeface="Aptos Display"/>
              </a:defRPr>
            </a:pPr>
            <a:r>
              <a:t>r = 0.7014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447287"/>
            <a:ext cx="306324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t>Influence ↔ PageRank.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788920"/>
            <a:ext cx="7114032" cy="25603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2788920"/>
            <a:ext cx="64008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2953512"/>
            <a:ext cx="67299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392424"/>
            <a:ext cx="6729984" cy="1810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  <a:latin typeface="Aptos"/>
              </a:defRPr>
            </a:pPr>
            <a:r>
              <a:t>structurally important users tend to have higher influence in the synthetic network.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4. Monthly Interaction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Activity rises overall from 6,570 interactions in January to 9,463 in June, with a small dip in April.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5. Interaction Types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3702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Likes remain the largest interaction category, while shares and cross-platform shares also increase over the observation period.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6. Information Cascade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There are 1,876 cascades; mean size is 26.65, median 28, and maximum 75.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7. Information Cascade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Cascade durations show substantial variation, including a long tail toward several hundred hours.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8. Cross-Platform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53" y="769469"/>
            <a:ext cx="7040245" cy="565144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92.16% of cascades involve cross-platform propagation. All 20 directed platform pairs occur.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9. Top Cross-Platform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08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Facebook → YouTube is the largest observed transition with 421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10. Cross-Community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6" y="882800"/>
            <a:ext cx="7324689" cy="5655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97.12% of cascades involve multiple communities, indicating widespread community-to-community movement in the simulation.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11. Propagation vs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3702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Propagation-oriented activity is consistently below total engagement, showing why the two measures should be distinguished.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12. Monthly Propagation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092440" cy="48127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88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1234440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4884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Aptos"/>
              </a:defRPr>
            </a:pPr>
            <a:r>
              <a:t>The monthly rate is relatively stable: average 41.83%, maximum 43.49% in May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13. Temporal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Peak simulated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48737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23:00 with 2,568 interactions.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1600200"/>
          </a:xfrm>
          <a:prstGeom prst="roundRect">
            <a:avLst/>
          </a:prstGeom>
          <a:solidFill>
            <a:srgbClr val="ECFE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9047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Peak simulated weekday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29384"/>
            <a:ext cx="487375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Tuesday with 8,564 interactions.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10789920" cy="214884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64008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410712"/>
            <a:ext cx="10405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849624"/>
            <a:ext cx="10405872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These are properties of the controlled synthetic dataset.</a:t>
            </a:r>
            <a:br/>
            <a:r>
              <a:t>They should not be presented as real-world behavioral or causal findings.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14. Discussion &amp;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25780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39903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Network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37944"/>
            <a:ext cx="487375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Network position is associated with user influence.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554480"/>
          </a:xfrm>
          <a:prstGeom prst="roundRect">
            <a:avLst/>
          </a:prstGeom>
          <a:solidFill>
            <a:srgbClr val="ECFE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64008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39903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Diffusion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37944"/>
            <a:ext cx="487375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Information frequently crosses platform and community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2578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42900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59359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Temporal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032504"/>
            <a:ext cx="487375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Temporal variation provides another dimension for understanding diffusion.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257800" cy="173736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64008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59359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Potential applications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32504"/>
            <a:ext cx="487375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0">
                <a:solidFill>
                  <a:srgbClr val="475569"/>
                </a:solidFill>
                <a:latin typeface="Aptos"/>
              </a:defRPr>
            </a:pPr>
            <a:r>
              <a:t>Potential applications: influencer identification, propagation monitoring, and community-to-community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ptos Display"/>
              </a:defRPr>
            </a:pPr>
            <a:r>
              <a:t>15.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9319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525780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44751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4873752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0">
                <a:solidFill>
                  <a:srgbClr val="475569"/>
                </a:solidFill>
                <a:latin typeface="Aptos"/>
              </a:defRPr>
            </a:pPr>
            <a:r>
              <a:t>Synthetic dataset → findings are simulation-based.</a:t>
            </a:r>
            <a:br/>
            <a:br/>
            <a:r>
              <a:t>Cascades are predominantly chain-like → branching topology is limited.</a:t>
            </a:r>
            <a:br/>
            <a:br/>
            <a:r>
              <a:t>Platform/community distributions are controlled.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5780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64008" cy="4297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44751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83664"/>
            <a:ext cx="4873752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  <a:latin typeface="Aptos"/>
              </a:defRPr>
            </a:pPr>
            <a:r>
              <a:t>Future: real-world validation, branching cascades, diffusion models, and time-to-event analysis.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101852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16.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6B6D4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789920" cy="1874519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64008" cy="18745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10405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Information diffusion is multi-dimensional.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86584"/>
            <a:ext cx="1040587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Network structure, user position, cross-platform movement, cross-community movement, and time all shape the observed simulation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107899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3977639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4142231"/>
            <a:ext cx="10405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Study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81144"/>
            <a:ext cx="10405872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0">
                <a:solidFill>
                  <a:srgbClr val="475569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study demonstrates an end-to-end SNA workflow from network construction to integrated diffusion findings.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Conclusions are explicitly limited to the synthetic 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537960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Aptos"/>
              </a:defRPr>
            </a:pPr>
            <a:r>
              <a:t>SNA CASE STUDY • INFORMATION DIFFUSION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753</Words>
  <Application>Microsoft Office PowerPoint</Application>
  <PresentationFormat>Widescreen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Lt. 07</cp:lastModifiedBy>
  <cp:revision>3</cp:revision>
  <dcterms:created xsi:type="dcterms:W3CDTF">2013-01-27T09:14:16Z</dcterms:created>
  <dcterms:modified xsi:type="dcterms:W3CDTF">2026-10-04T15:02:42Z</dcterms:modified>
  <cp:category/>
</cp:coreProperties>
</file>